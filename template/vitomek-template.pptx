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3C2E10-5B61-4C7B-9F2A-1B2C3D4E5F60}">
  <a:tblStyle styleId="{7A3C2E10-5B61-4C7B-9F2A-1B2C3D4E5F60}" styleName="VITOMEK — таблица">
    <a:wholeTbl>
      <a:tcTxStyle>
        <a:fontRef idx="minor">
          <a:schemeClr val="tx1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 cap="flat" cmpd="sng" algn="ctr">
              <a:solidFill>
                <a:schemeClr val="accent2"/>
              </a:solidFill>
              <a:prstDash val="solid"/>
            </a:ln>
          </a:top>
          <a:bottom>
            <a:ln w="6350" cap="flat" cmpd="sng" algn="ctr">
              <a:solidFill>
                <a:schemeClr val="accent2"/>
              </a:solidFill>
              <a:prstDash val="solid"/>
            </a:ln>
          </a:bottom>
          <a:insideH>
            <a:ln w="6350" cap="flat" cmpd="sng" algn="ctr">
              <a:solidFill>
                <a:schemeClr val="accent2"/>
              </a:solidFill>
              <a:prstDash val="solid"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/>
          </a:solidFill>
        </a:fill>
      </a:tcStyle>
    </a:band1H>
    <a:firstCol>
      <a:tcTxStyle b="on"/>
      <a:tcStyle>
        <a:tcBdr/>
      </a:tcStyle>
    </a:firstCol>
    <a:lastRow>
      <a:tcTxStyle b="on"/>
      <a:tcStyle>
        <a:tcBdr>
          <a:top>
            <a:ln w="12700" cap="flat" cmpd="sng" algn="ctr">
              <a:solidFill>
                <a:schemeClr val="accent2"/>
              </a:solidFill>
              <a:prstDash val="solid"/>
            </a:ln>
          </a:top>
        </a:tcBdr>
        <a:fill>
          <a:noFill/>
        </a:fill>
      </a:tcStyle>
    </a:lastRow>
    <a:firstRow>
      <a:tcTxStyle b="on">
        <a:fontRef idx="minor">
          <a:schemeClr val="lt1"/>
        </a:fontRef>
        <a:schemeClr val="lt1"/>
      </a:tcTxStyle>
      <a:tcStyle>
        <a:tcBdr>
          <a:bottom>
            <a:ln w="12700" cap="flat" cmpd="sng" algn="ctr">
              <a:solidFill>
                <a:schemeClr val="accent1"/>
              </a:solidFill>
              <a:prstDash val="solid"/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 VITOME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420" y="387350"/>
            <a:ext cx="1638300" cy="320368"/>
          </a:xfrm>
          <a:prstGeom prst="rect">
            <a:avLst/>
          </a:prstGeom>
        </p:spPr>
      </p:pic>
      <p:cxnSp>
        <p:nvCxnSpPr>
          <p:cNvPr id="3" name="Линия под логотипом"/>
          <p:cNvCxnSpPr/>
          <p:nvPr/>
        </p:nvCxnSpPr>
        <p:spPr>
          <a:xfrm>
            <a:off x="1987550" y="876300"/>
            <a:ext cx="9488170" cy="0"/>
          </a:xfrm>
          <a:prstGeom prst="line">
            <a:avLst/>
          </a:prstGeom>
          <a:ln w="9525" cap="flat">
            <a:solidFill>
              <a:schemeClr val="accent2"/>
            </a:solidFill>
            <a:round/>
          </a:ln>
        </p:spPr>
      </p:cxnSp>
      <p:sp>
        <p:nvSpPr>
          <p:cNvPr id="4" name="Заголовок"/>
          <p:cNvSpPr>
            <a:spLocks noGrp="1"/>
          </p:cNvSpPr>
          <p:nvPr>
            <p:ph type="ctrTitle"/>
          </p:nvPr>
        </p:nvSpPr>
        <p:spPr>
          <a:xfrm>
            <a:off x="603504" y="3383280"/>
            <a:ext cx="6583680" cy="150876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5" name="Подзаголовок"/>
          <p:cNvSpPr>
            <a:spLocks noGrp="1"/>
          </p:cNvSpPr>
          <p:nvPr>
            <p:ph type="subTitle" idx="1"/>
          </p:nvPr>
        </p:nvSpPr>
        <p:spPr>
          <a:xfrm>
            <a:off x="603504" y="4983480"/>
            <a:ext cx="6583680" cy="64008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Подзаголовок или ключевая мысль</a:t>
            </a:r>
          </a:p>
        </p:txBody>
      </p:sp>
      <p:sp>
        <p:nvSpPr>
          <p:cNvPr id="6" name="Дата и автор"/>
          <p:cNvSpPr>
            <a:spLocks noGrp="1"/>
          </p:cNvSpPr>
          <p:nvPr>
            <p:ph type="body" idx="2"/>
          </p:nvPr>
        </p:nvSpPr>
        <p:spPr>
          <a:xfrm>
            <a:off x="603504" y="5715000"/>
            <a:ext cx="6583680" cy="45720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Дата • Автор, отдел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раздела"/>
          <p:cNvSpPr>
            <a:spLocks noGrp="1"/>
          </p:cNvSpPr>
          <p:nvPr>
            <p:ph type="body" idx="1"/>
          </p:nvPr>
        </p:nvSpPr>
        <p:spPr>
          <a:xfrm>
            <a:off x="603504" y="1371600"/>
            <a:ext cx="5486400" cy="201168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20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01</a:t>
            </a:r>
          </a:p>
        </p:txBody>
      </p:sp>
      <p:cxnSp>
        <p:nvCxnSpPr>
          <p:cNvPr id="3" name="Короткая линия"/>
          <p:cNvCxnSpPr/>
          <p:nvPr/>
        </p:nvCxnSpPr>
        <p:spPr>
          <a:xfrm>
            <a:off x="603504" y="3566160"/>
            <a:ext cx="1463040" cy="0"/>
          </a:xfrm>
          <a:prstGeom prst="line">
            <a:avLst/>
          </a:prstGeom>
          <a:ln w="19050" cap="flat">
            <a:solidFill>
              <a:schemeClr val="accent2"/>
            </a:solidFill>
            <a:round/>
          </a:ln>
        </p:spPr>
      </p:cxnSp>
      <p:sp>
        <p:nvSpPr>
          <p:cNvPr id="4" name="Заголовок"/>
          <p:cNvSpPr>
            <a:spLocks noGrp="1"/>
          </p:cNvSpPr>
          <p:nvPr>
            <p:ph type="title"/>
          </p:nvPr>
        </p:nvSpPr>
        <p:spPr>
          <a:xfrm>
            <a:off x="603504" y="3749040"/>
            <a:ext cx="6766560" cy="146304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5" name="Нижний колонтитул"/>
          <p:cNvSpPr>
            <a:spLocks noGrp="1"/>
          </p:cNvSpPr>
          <p:nvPr>
            <p:ph type="ftr" sz="quarter" idx="11"/>
          </p:nvPr>
        </p:nvSpPr>
        <p:spPr>
          <a:xfrm>
            <a:off x="603504" y="6263640"/>
            <a:ext cx="45720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Нижний колонтитул</a:t>
            </a:r>
          </a:p>
        </p:txBody>
      </p:sp>
      <p:sp>
        <p:nvSpPr>
          <p:cNvPr id="6" name="Номер слайда"/>
          <p:cNvSpPr>
            <a:spLocks noGrp="1"/>
          </p:cNvSpPr>
          <p:nvPr>
            <p:ph type="sldNum" sz="quarter" idx="12"/>
          </p:nvPr>
        </p:nvSpPr>
        <p:spPr>
          <a:xfrm>
            <a:off x="10561320" y="6263640"/>
            <a:ext cx="9144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03504" y="1051560"/>
            <a:ext cx="10872216" cy="109728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/>
          <a:p>
            <a:r>
              <a:rPr lang="ru-RU" dirty="0"/>
              <a:t>Заголовок слайда (до 60 знаков)</a:t>
            </a:r>
          </a:p>
        </p:txBody>
      </p:sp>
      <p:sp>
        <p:nvSpPr>
          <p:cNvPr id="3" name="Текст"/>
          <p:cNvSpPr>
            <a:spLocks noGrp="1"/>
          </p:cNvSpPr>
          <p:nvPr>
            <p:ph type="body" idx="1"/>
          </p:nvPr>
        </p:nvSpPr>
        <p:spPr>
          <a:xfrm>
            <a:off x="603504" y="2331720"/>
            <a:ext cx="10872216" cy="365760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285750" indent="-285750" algn="l" defTabSz="914400" rtl="0" eaLnBrk="1" latinLnBrk="0" hangingPunct="1">
              <a:spcBef>
                <a:spcPts val="8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150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875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Пункт списка — до 5–6 пунктов на слайде</a:t>
            </a:r>
          </a:p>
          <a:p>
            <a:pPr lvl="1"/>
            <a:r>
              <a:rPr lang="ru-RU" dirty="0"/>
              <a:t>Второй уровень — через Tab</a:t>
            </a:r>
          </a:p>
        </p:txBody>
      </p:sp>
      <p:sp>
        <p:nvSpPr>
          <p:cNvPr id="4" name="Нижний колонтитул"/>
          <p:cNvSpPr>
            <a:spLocks noGrp="1"/>
          </p:cNvSpPr>
          <p:nvPr>
            <p:ph type="ftr" sz="quarter" idx="11"/>
          </p:nvPr>
        </p:nvSpPr>
        <p:spPr>
          <a:xfrm>
            <a:off x="603504" y="6263640"/>
            <a:ext cx="45720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Нижний колонтитул</a:t>
            </a:r>
          </a:p>
        </p:txBody>
      </p:sp>
      <p:sp>
        <p:nvSpPr>
          <p:cNvPr id="5" name="Номер слайда"/>
          <p:cNvSpPr>
            <a:spLocks noGrp="1"/>
          </p:cNvSpPr>
          <p:nvPr>
            <p:ph type="sldNum" sz="quarter" idx="12"/>
          </p:nvPr>
        </p:nvSpPr>
        <p:spPr>
          <a:xfrm>
            <a:off x="10561320" y="6263640"/>
            <a:ext cx="9144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Две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03504" y="1051560"/>
            <a:ext cx="10872216" cy="109728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Подзаголовок колонки 1"/>
          <p:cNvSpPr>
            <a:spLocks noGrp="1"/>
          </p:cNvSpPr>
          <p:nvPr>
            <p:ph type="body" idx="1"/>
          </p:nvPr>
        </p:nvSpPr>
        <p:spPr>
          <a:xfrm>
            <a:off x="603504" y="2331720"/>
            <a:ext cx="5253228" cy="45720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Было</a:t>
            </a:r>
          </a:p>
        </p:txBody>
      </p:sp>
      <p:cxnSp>
        <p:nvCxnSpPr>
          <p:cNvPr id="4" name="Линия колонки 1"/>
          <p:cNvCxnSpPr/>
          <p:nvPr/>
        </p:nvCxnSpPr>
        <p:spPr>
          <a:xfrm>
            <a:off x="603504" y="2862072"/>
            <a:ext cx="5253228" cy="0"/>
          </a:xfrm>
          <a:prstGeom prst="line">
            <a:avLst/>
          </a:prstGeom>
          <a:ln w="9525" cap="flat">
            <a:solidFill>
              <a:schemeClr val="accent2"/>
            </a:solidFill>
            <a:round/>
          </a:ln>
        </p:spPr>
      </p:cxnSp>
      <p:sp>
        <p:nvSpPr>
          <p:cNvPr id="5" name="Текст колонки 1"/>
          <p:cNvSpPr>
            <a:spLocks noGrp="1"/>
          </p:cNvSpPr>
          <p:nvPr>
            <p:ph type="body" idx="2"/>
          </p:nvPr>
        </p:nvSpPr>
        <p:spPr>
          <a:xfrm>
            <a:off x="603504" y="3017520"/>
            <a:ext cx="5253228" cy="297180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285750" indent="-285750" algn="l" defTabSz="914400" rtl="0" eaLnBrk="1" latinLnBrk="0" hangingPunct="1">
              <a:spcBef>
                <a:spcPts val="8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150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875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Текст первой колонки</a:t>
            </a:r>
          </a:p>
          <a:p>
            <a:r>
              <a:rPr lang="ru-RU" dirty="0"/>
              <a:t>Второй пункт</a:t>
            </a:r>
          </a:p>
        </p:txBody>
      </p:sp>
      <p:sp>
        <p:nvSpPr>
          <p:cNvPr id="6" name="Подзаголовок колонки 2"/>
          <p:cNvSpPr>
            <a:spLocks noGrp="1"/>
          </p:cNvSpPr>
          <p:nvPr>
            <p:ph type="body" idx="3"/>
          </p:nvPr>
        </p:nvSpPr>
        <p:spPr>
          <a:xfrm>
            <a:off x="6222492" y="2331720"/>
            <a:ext cx="5253228" cy="45720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Стало</a:t>
            </a:r>
          </a:p>
        </p:txBody>
      </p:sp>
      <p:cxnSp>
        <p:nvCxnSpPr>
          <p:cNvPr id="7" name="Линия колонки 2"/>
          <p:cNvCxnSpPr/>
          <p:nvPr/>
        </p:nvCxnSpPr>
        <p:spPr>
          <a:xfrm>
            <a:off x="6222492" y="2862072"/>
            <a:ext cx="5253228" cy="0"/>
          </a:xfrm>
          <a:prstGeom prst="line">
            <a:avLst/>
          </a:prstGeom>
          <a:ln w="9525" cap="flat">
            <a:solidFill>
              <a:schemeClr val="accent2"/>
            </a:solidFill>
            <a:round/>
          </a:ln>
        </p:spPr>
      </p:cxnSp>
      <p:sp>
        <p:nvSpPr>
          <p:cNvPr id="8" name="Текст колонки 2"/>
          <p:cNvSpPr>
            <a:spLocks noGrp="1"/>
          </p:cNvSpPr>
          <p:nvPr>
            <p:ph type="body" idx="4"/>
          </p:nvPr>
        </p:nvSpPr>
        <p:spPr>
          <a:xfrm>
            <a:off x="6222492" y="3017520"/>
            <a:ext cx="5253228" cy="297180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285750" indent="-285750" algn="l" defTabSz="914400" rtl="0" eaLnBrk="1" latinLnBrk="0" hangingPunct="1">
              <a:spcBef>
                <a:spcPts val="8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150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875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Текст второй колонки</a:t>
            </a:r>
          </a:p>
          <a:p>
            <a:r>
              <a:rPr lang="ru-RU" dirty="0"/>
              <a:t>Второй пункт</a:t>
            </a:r>
          </a:p>
        </p:txBody>
      </p:sp>
      <p:sp>
        <p:nvSpPr>
          <p:cNvPr id="9" name="Нижний колонтитул"/>
          <p:cNvSpPr>
            <a:spLocks noGrp="1"/>
          </p:cNvSpPr>
          <p:nvPr>
            <p:ph type="ftr" sz="quarter" idx="11"/>
          </p:nvPr>
        </p:nvSpPr>
        <p:spPr>
          <a:xfrm>
            <a:off x="603504" y="6263640"/>
            <a:ext cx="45720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Нижний колонтитул</a:t>
            </a:r>
          </a:p>
        </p:txBody>
      </p:sp>
      <p:sp>
        <p:nvSpPr>
          <p:cNvPr id="10" name="Номер слайда"/>
          <p:cNvSpPr>
            <a:spLocks noGrp="1"/>
          </p:cNvSpPr>
          <p:nvPr>
            <p:ph type="sldNum" sz="quarter" idx="12"/>
          </p:nvPr>
        </p:nvSpPr>
        <p:spPr>
          <a:xfrm>
            <a:off x="10561320" y="6263640"/>
            <a:ext cx="9144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Текст и карти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03504" y="1051560"/>
            <a:ext cx="10872216" cy="109728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Текст"/>
          <p:cNvSpPr>
            <a:spLocks noGrp="1"/>
          </p:cNvSpPr>
          <p:nvPr>
            <p:ph type="body" idx="1"/>
          </p:nvPr>
        </p:nvSpPr>
        <p:spPr>
          <a:xfrm>
            <a:off x="603504" y="2331720"/>
            <a:ext cx="4837176" cy="365760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285750" indent="-285750" algn="l" defTabSz="914400" rtl="0" eaLnBrk="1" latinLnBrk="0" hangingPunct="1">
              <a:spcBef>
                <a:spcPts val="8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150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–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8750" indent="-285750" algn="l" defTabSz="914400" rtl="0" eaLnBrk="1" latinLnBrk="0" hangingPunct="1">
              <a:spcBef>
                <a:spcPts val="4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Текст слева от картинки</a:t>
            </a:r>
          </a:p>
          <a:p>
            <a:r>
              <a:rPr lang="ru-RU" dirty="0"/>
              <a:t>Второй пункт</a:t>
            </a:r>
          </a:p>
        </p:txBody>
      </p:sp>
      <p:sp>
        <p:nvSpPr>
          <p:cNvPr id="4" name="Рисунок"/>
          <p:cNvSpPr>
            <a:spLocks noGrp="1"/>
          </p:cNvSpPr>
          <p:nvPr>
            <p:ph type="pic" idx="2"/>
          </p:nvPr>
        </p:nvSpPr>
        <p:spPr>
          <a:xfrm>
            <a:off x="5806440" y="2331720"/>
            <a:ext cx="5669280" cy="3657600"/>
          </a:xfrm>
          <a:prstGeom prst="roundRect">
            <a:avLst>
              <a:gd name="adj" fmla="val 5000"/>
            </a:avLst>
          </a:prstGeom>
          <a:solidFill>
            <a:schemeClr val="bg2"/>
          </a:solidFill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ru-RU" dirty="0"/>
              <a:t>Вставьте рисунок</a:t>
            </a:r>
          </a:p>
        </p:txBody>
      </p:sp>
      <p:sp>
        <p:nvSpPr>
          <p:cNvPr id="5" name="Нижний колонтитул"/>
          <p:cNvSpPr>
            <a:spLocks noGrp="1"/>
          </p:cNvSpPr>
          <p:nvPr>
            <p:ph type="ftr" sz="quarter" idx="11"/>
          </p:nvPr>
        </p:nvSpPr>
        <p:spPr>
          <a:xfrm>
            <a:off x="603504" y="6263640"/>
            <a:ext cx="45720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Нижний колонтитул</a:t>
            </a:r>
          </a:p>
        </p:txBody>
      </p:sp>
      <p:sp>
        <p:nvSpPr>
          <p:cNvPr id="6" name="Номер слайда"/>
          <p:cNvSpPr>
            <a:spLocks noGrp="1"/>
          </p:cNvSpPr>
          <p:nvPr>
            <p:ph type="sldNum" sz="quarter" idx="12"/>
          </p:nvPr>
        </p:nvSpPr>
        <p:spPr>
          <a:xfrm>
            <a:off x="10561320" y="6263640"/>
            <a:ext cx="9144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03504" y="1051560"/>
            <a:ext cx="10872216" cy="109728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Карточка 1"/>
          <p:cNvSpPr/>
          <p:nvPr/>
        </p:nvSpPr>
        <p:spPr>
          <a:xfrm>
            <a:off x="603504" y="2331720"/>
            <a:ext cx="3410712" cy="30175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 cap="flat">
            <a:solidFill>
              <a:schemeClr val="accent2"/>
            </a:solidFill>
            <a:round/>
          </a:ln>
        </p:spPr>
        <p:txBody>
          <a:bodyPr wrap="square" lIns="0" rIns="0" rtlCol="0" anchor="ctr">
            <a:normAutofit/>
          </a:bodyPr>
          <a:lstStyle/>
          <a:p>
            <a:endParaRPr lang="ru-RU"/>
          </a:p>
        </p:txBody>
      </p:sp>
      <p:sp>
        <p:nvSpPr>
          <p:cNvPr id="4" name="Подзаголовок карточки 1"/>
          <p:cNvSpPr>
            <a:spLocks noGrp="1"/>
          </p:cNvSpPr>
          <p:nvPr>
            <p:ph type="body" idx="1"/>
          </p:nvPr>
        </p:nvSpPr>
        <p:spPr>
          <a:xfrm>
            <a:off x="832104" y="2560320"/>
            <a:ext cx="2953512" cy="54864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Подзаголовок 1</a:t>
            </a:r>
          </a:p>
        </p:txBody>
      </p:sp>
      <p:cxnSp>
        <p:nvCxnSpPr>
          <p:cNvPr id="5" name="Линия карточки 1"/>
          <p:cNvCxnSpPr/>
          <p:nvPr/>
        </p:nvCxnSpPr>
        <p:spPr>
          <a:xfrm>
            <a:off x="832104" y="3200400"/>
            <a:ext cx="2953512" cy="0"/>
          </a:xfrm>
          <a:prstGeom prst="line">
            <a:avLst/>
          </a:prstGeom>
          <a:ln w="9525" cap="flat">
            <a:solidFill>
              <a:schemeClr val="accent2"/>
            </a:solidFill>
            <a:round/>
          </a:ln>
        </p:spPr>
      </p:cxnSp>
      <p:sp>
        <p:nvSpPr>
          <p:cNvPr id="6" name="Текст карточки 1"/>
          <p:cNvSpPr>
            <a:spLocks noGrp="1"/>
          </p:cNvSpPr>
          <p:nvPr>
            <p:ph type="body" idx="2"/>
          </p:nvPr>
        </p:nvSpPr>
        <p:spPr>
          <a:xfrm>
            <a:off x="832104" y="3337560"/>
            <a:ext cx="2953512" cy="182880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Одна-две строки пояснения</a:t>
            </a:r>
          </a:p>
        </p:txBody>
      </p:sp>
      <p:sp>
        <p:nvSpPr>
          <p:cNvPr id="7" name="Карточка 2"/>
          <p:cNvSpPr/>
          <p:nvPr/>
        </p:nvSpPr>
        <p:spPr>
          <a:xfrm>
            <a:off x="4334256" y="2331720"/>
            <a:ext cx="3410712" cy="30175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 cap="flat">
            <a:solidFill>
              <a:schemeClr val="accent2"/>
            </a:solidFill>
            <a:round/>
          </a:ln>
        </p:spPr>
        <p:txBody>
          <a:bodyPr wrap="square" lIns="0" rIns="0" rtlCol="0" anchor="ctr">
            <a:normAutofit/>
          </a:bodyPr>
          <a:lstStyle/>
          <a:p>
            <a:endParaRPr lang="ru-RU"/>
          </a:p>
        </p:txBody>
      </p:sp>
      <p:sp>
        <p:nvSpPr>
          <p:cNvPr id="8" name="Подзаголовок карточки 2"/>
          <p:cNvSpPr>
            <a:spLocks noGrp="1"/>
          </p:cNvSpPr>
          <p:nvPr>
            <p:ph type="body" idx="3"/>
          </p:nvPr>
        </p:nvSpPr>
        <p:spPr>
          <a:xfrm>
            <a:off x="4562856" y="2560320"/>
            <a:ext cx="2953512" cy="54864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Подзаголовок 2</a:t>
            </a:r>
          </a:p>
        </p:txBody>
      </p:sp>
      <p:cxnSp>
        <p:nvCxnSpPr>
          <p:cNvPr id="9" name="Линия карточки 2"/>
          <p:cNvCxnSpPr/>
          <p:nvPr/>
        </p:nvCxnSpPr>
        <p:spPr>
          <a:xfrm>
            <a:off x="4562856" y="3200400"/>
            <a:ext cx="2953512" cy="0"/>
          </a:xfrm>
          <a:prstGeom prst="line">
            <a:avLst/>
          </a:prstGeom>
          <a:ln w="9525" cap="flat">
            <a:solidFill>
              <a:schemeClr val="accent2"/>
            </a:solidFill>
            <a:round/>
          </a:ln>
        </p:spPr>
      </p:cxnSp>
      <p:sp>
        <p:nvSpPr>
          <p:cNvPr id="10" name="Текст карточки 2"/>
          <p:cNvSpPr>
            <a:spLocks noGrp="1"/>
          </p:cNvSpPr>
          <p:nvPr>
            <p:ph type="body" idx="4"/>
          </p:nvPr>
        </p:nvSpPr>
        <p:spPr>
          <a:xfrm>
            <a:off x="4562856" y="3337560"/>
            <a:ext cx="2953512" cy="182880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Одна-две строки пояснения</a:t>
            </a:r>
          </a:p>
        </p:txBody>
      </p:sp>
      <p:sp>
        <p:nvSpPr>
          <p:cNvPr id="11" name="Карточка 3"/>
          <p:cNvSpPr/>
          <p:nvPr/>
        </p:nvSpPr>
        <p:spPr>
          <a:xfrm>
            <a:off x="8065008" y="2331720"/>
            <a:ext cx="3410712" cy="30175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 cap="flat">
            <a:solidFill>
              <a:schemeClr val="accent2"/>
            </a:solidFill>
            <a:round/>
          </a:ln>
        </p:spPr>
        <p:txBody>
          <a:bodyPr wrap="square" lIns="0" rIns="0" rtlCol="0" anchor="ctr">
            <a:normAutofit/>
          </a:bodyPr>
          <a:lstStyle/>
          <a:p>
            <a:endParaRPr lang="ru-RU"/>
          </a:p>
        </p:txBody>
      </p:sp>
      <p:sp>
        <p:nvSpPr>
          <p:cNvPr id="12" name="Подзаголовок карточки 3"/>
          <p:cNvSpPr>
            <a:spLocks noGrp="1"/>
          </p:cNvSpPr>
          <p:nvPr>
            <p:ph type="body" idx="5"/>
          </p:nvPr>
        </p:nvSpPr>
        <p:spPr>
          <a:xfrm>
            <a:off x="8293608" y="2560320"/>
            <a:ext cx="2953512" cy="54864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Подзаголовок 3</a:t>
            </a:r>
          </a:p>
        </p:txBody>
      </p:sp>
      <p:cxnSp>
        <p:nvCxnSpPr>
          <p:cNvPr id="13" name="Линия карточки 3"/>
          <p:cNvCxnSpPr/>
          <p:nvPr/>
        </p:nvCxnSpPr>
        <p:spPr>
          <a:xfrm>
            <a:off x="8293608" y="3200400"/>
            <a:ext cx="2953512" cy="0"/>
          </a:xfrm>
          <a:prstGeom prst="line">
            <a:avLst/>
          </a:prstGeom>
          <a:ln w="9525" cap="flat">
            <a:solidFill>
              <a:schemeClr val="accent2"/>
            </a:solidFill>
            <a:round/>
          </a:ln>
        </p:spPr>
      </p:cxnSp>
      <p:sp>
        <p:nvSpPr>
          <p:cNvPr id="14" name="Текст карточки 3"/>
          <p:cNvSpPr>
            <a:spLocks noGrp="1"/>
          </p:cNvSpPr>
          <p:nvPr>
            <p:ph type="body" idx="6"/>
          </p:nvPr>
        </p:nvSpPr>
        <p:spPr>
          <a:xfrm>
            <a:off x="8293608" y="3337560"/>
            <a:ext cx="2953512" cy="182880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5000"/>
              </a:lnSpc>
              <a:spcBef>
                <a:spcPts val="40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Одна-две строки пояснения</a:t>
            </a:r>
          </a:p>
        </p:txBody>
      </p:sp>
      <p:sp>
        <p:nvSpPr>
          <p:cNvPr id="15" name="Нижний колонтитул"/>
          <p:cNvSpPr>
            <a:spLocks noGrp="1"/>
          </p:cNvSpPr>
          <p:nvPr>
            <p:ph type="ftr" sz="quarter" idx="11"/>
          </p:nvPr>
        </p:nvSpPr>
        <p:spPr>
          <a:xfrm>
            <a:off x="603504" y="6263640"/>
            <a:ext cx="45720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Нижний колонтитул</a:t>
            </a:r>
          </a:p>
        </p:txBody>
      </p:sp>
      <p:sp>
        <p:nvSpPr>
          <p:cNvPr id="16" name="Номер слайда"/>
          <p:cNvSpPr>
            <a:spLocks noGrp="1"/>
          </p:cNvSpPr>
          <p:nvPr>
            <p:ph type="sldNum" sz="quarter" idx="12"/>
          </p:nvPr>
        </p:nvSpPr>
        <p:spPr>
          <a:xfrm>
            <a:off x="10561320" y="6263640"/>
            <a:ext cx="9144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03504" y="1051560"/>
            <a:ext cx="10872216" cy="109728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Цифра 1"/>
          <p:cNvSpPr>
            <a:spLocks noGrp="1"/>
          </p:cNvSpPr>
          <p:nvPr>
            <p:ph type="body" idx="1"/>
          </p:nvPr>
        </p:nvSpPr>
        <p:spPr>
          <a:xfrm>
            <a:off x="603504" y="2468880"/>
            <a:ext cx="2512314" cy="23774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 cap="flat">
            <a:solidFill>
              <a:schemeClr val="accent2"/>
            </a:solidFill>
            <a:round/>
          </a:ln>
        </p:spPr>
        <p:txBody>
          <a:bodyPr wrap="square" lIns="91440" tIns="274320" rIns="9144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0</a:t>
            </a:r>
          </a:p>
        </p:txBody>
      </p:sp>
      <p:sp>
        <p:nvSpPr>
          <p:cNvPr id="4" name="Подпись 1"/>
          <p:cNvSpPr>
            <a:spLocks noGrp="1"/>
          </p:cNvSpPr>
          <p:nvPr>
            <p:ph type="body" idx="2"/>
          </p:nvPr>
        </p:nvSpPr>
        <p:spPr>
          <a:xfrm>
            <a:off x="740664" y="3703320"/>
            <a:ext cx="2237994" cy="105156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Подпись к цифре</a:t>
            </a:r>
          </a:p>
        </p:txBody>
      </p:sp>
      <p:sp>
        <p:nvSpPr>
          <p:cNvPr id="5" name="Цифра 2"/>
          <p:cNvSpPr>
            <a:spLocks noGrp="1"/>
          </p:cNvSpPr>
          <p:nvPr>
            <p:ph type="body" idx="3"/>
          </p:nvPr>
        </p:nvSpPr>
        <p:spPr>
          <a:xfrm>
            <a:off x="3390138" y="2468880"/>
            <a:ext cx="2512314" cy="23774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 cap="flat">
            <a:solidFill>
              <a:schemeClr val="accent2"/>
            </a:solidFill>
            <a:round/>
          </a:ln>
        </p:spPr>
        <p:txBody>
          <a:bodyPr wrap="square" lIns="91440" tIns="274320" rIns="9144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0</a:t>
            </a:r>
          </a:p>
        </p:txBody>
      </p:sp>
      <p:sp>
        <p:nvSpPr>
          <p:cNvPr id="6" name="Подпись 2"/>
          <p:cNvSpPr>
            <a:spLocks noGrp="1"/>
          </p:cNvSpPr>
          <p:nvPr>
            <p:ph type="body" idx="4"/>
          </p:nvPr>
        </p:nvSpPr>
        <p:spPr>
          <a:xfrm>
            <a:off x="3527298" y="3703320"/>
            <a:ext cx="2237994" cy="105156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Подпись к цифре</a:t>
            </a:r>
          </a:p>
        </p:txBody>
      </p:sp>
      <p:sp>
        <p:nvSpPr>
          <p:cNvPr id="7" name="Цифра 3"/>
          <p:cNvSpPr>
            <a:spLocks noGrp="1"/>
          </p:cNvSpPr>
          <p:nvPr>
            <p:ph type="body" idx="5"/>
          </p:nvPr>
        </p:nvSpPr>
        <p:spPr>
          <a:xfrm>
            <a:off x="6176772" y="2468880"/>
            <a:ext cx="2512314" cy="23774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 cap="flat">
            <a:solidFill>
              <a:schemeClr val="accent2"/>
            </a:solidFill>
            <a:round/>
          </a:ln>
        </p:spPr>
        <p:txBody>
          <a:bodyPr wrap="square" lIns="91440" tIns="274320" rIns="9144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0</a:t>
            </a:r>
          </a:p>
        </p:txBody>
      </p:sp>
      <p:sp>
        <p:nvSpPr>
          <p:cNvPr id="8" name="Подпись 3"/>
          <p:cNvSpPr>
            <a:spLocks noGrp="1"/>
          </p:cNvSpPr>
          <p:nvPr>
            <p:ph type="body" idx="6"/>
          </p:nvPr>
        </p:nvSpPr>
        <p:spPr>
          <a:xfrm>
            <a:off x="6313932" y="3703320"/>
            <a:ext cx="2237994" cy="105156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Подпись к цифре</a:t>
            </a:r>
          </a:p>
        </p:txBody>
      </p:sp>
      <p:sp>
        <p:nvSpPr>
          <p:cNvPr id="9" name="Цифра 4"/>
          <p:cNvSpPr>
            <a:spLocks noGrp="1"/>
          </p:cNvSpPr>
          <p:nvPr>
            <p:ph type="body" idx="7"/>
          </p:nvPr>
        </p:nvSpPr>
        <p:spPr>
          <a:xfrm>
            <a:off x="8963406" y="2468880"/>
            <a:ext cx="2512314" cy="23774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 cap="flat">
            <a:solidFill>
              <a:schemeClr val="accent2"/>
            </a:solidFill>
            <a:round/>
          </a:ln>
        </p:spPr>
        <p:txBody>
          <a:bodyPr wrap="square" lIns="91440" tIns="274320" rIns="9144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4800" b="1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0</a:t>
            </a:r>
          </a:p>
        </p:txBody>
      </p:sp>
      <p:sp>
        <p:nvSpPr>
          <p:cNvPr id="10" name="Подпись 4"/>
          <p:cNvSpPr>
            <a:spLocks noGrp="1"/>
          </p:cNvSpPr>
          <p:nvPr>
            <p:ph type="body" idx="8"/>
          </p:nvPr>
        </p:nvSpPr>
        <p:spPr>
          <a:xfrm>
            <a:off x="9100566" y="3703320"/>
            <a:ext cx="2237994" cy="105156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Подпись к цифре</a:t>
            </a:r>
          </a:p>
        </p:txBody>
      </p:sp>
      <p:sp>
        <p:nvSpPr>
          <p:cNvPr id="11" name="Нижний колонтитул"/>
          <p:cNvSpPr>
            <a:spLocks noGrp="1"/>
          </p:cNvSpPr>
          <p:nvPr>
            <p:ph type="ftr" sz="quarter" idx="11"/>
          </p:nvPr>
        </p:nvSpPr>
        <p:spPr>
          <a:xfrm>
            <a:off x="603504" y="6263640"/>
            <a:ext cx="45720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Нижний колонтитул</a:t>
            </a:r>
          </a:p>
        </p:txBody>
      </p:sp>
      <p:sp>
        <p:nvSpPr>
          <p:cNvPr id="12" name="Номер слайда"/>
          <p:cNvSpPr>
            <a:spLocks noGrp="1"/>
          </p:cNvSpPr>
          <p:nvPr>
            <p:ph type="sldNum" sz="quarter" idx="12"/>
          </p:nvPr>
        </p:nvSpPr>
        <p:spPr>
          <a:xfrm>
            <a:off x="10561320" y="6263640"/>
            <a:ext cx="9144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/ ключевая мысл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авычка"/>
          <p:cNvSpPr txBox="1"/>
          <p:nvPr/>
        </p:nvSpPr>
        <p:spPr>
          <a:xfrm>
            <a:off x="603504" y="1417320"/>
            <a:ext cx="1188720" cy="164592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/>
            <a:r>
              <a:rPr lang="ru-RU" sz="14400" b="1" dirty="0">
                <a:solidFill>
                  <a:schemeClr val="accent2"/>
                </a:solidFill>
                <a:latin typeface="+mj-lt"/>
              </a:rPr>
              <a:t>“</a:t>
            </a:r>
          </a:p>
        </p:txBody>
      </p:sp>
      <p:sp>
        <p:nvSpPr>
          <p:cNvPr id="3" name="Цитата"/>
          <p:cNvSpPr>
            <a:spLocks noGrp="1"/>
          </p:cNvSpPr>
          <p:nvPr>
            <p:ph type="body" idx="1"/>
          </p:nvPr>
        </p:nvSpPr>
        <p:spPr>
          <a:xfrm>
            <a:off x="1837944" y="2103120"/>
            <a:ext cx="9637776" cy="246888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</a:lstStyle>
          <a:p>
            <a:r>
              <a:rPr lang="ru-RU" dirty="0"/>
              <a:t>Одна крупная фраза — ключевая мысль слайда</a:t>
            </a:r>
          </a:p>
        </p:txBody>
      </p:sp>
      <p:sp>
        <p:nvSpPr>
          <p:cNvPr id="4" name="Автор цитаты"/>
          <p:cNvSpPr>
            <a:spLocks noGrp="1"/>
          </p:cNvSpPr>
          <p:nvPr>
            <p:ph type="body" idx="2"/>
          </p:nvPr>
        </p:nvSpPr>
        <p:spPr>
          <a:xfrm>
            <a:off x="1837944" y="4709160"/>
            <a:ext cx="9637776" cy="64008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— Имя, должность, хозяйство</a:t>
            </a:r>
          </a:p>
        </p:txBody>
      </p:sp>
      <p:sp>
        <p:nvSpPr>
          <p:cNvPr id="5" name="Нижний колонтитул"/>
          <p:cNvSpPr>
            <a:spLocks noGrp="1"/>
          </p:cNvSpPr>
          <p:nvPr>
            <p:ph type="ftr" sz="quarter" idx="11"/>
          </p:nvPr>
        </p:nvSpPr>
        <p:spPr>
          <a:xfrm>
            <a:off x="603504" y="6263640"/>
            <a:ext cx="45720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Нижний колонтитул</a:t>
            </a:r>
          </a:p>
        </p:txBody>
      </p:sp>
      <p:sp>
        <p:nvSpPr>
          <p:cNvPr id="6" name="Номер слайда"/>
          <p:cNvSpPr>
            <a:spLocks noGrp="1"/>
          </p:cNvSpPr>
          <p:nvPr>
            <p:ph type="sldNum" sz="quarter" idx="12"/>
          </p:nvPr>
        </p:nvSpPr>
        <p:spPr>
          <a:xfrm>
            <a:off x="10561320" y="6263640"/>
            <a:ext cx="9144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603504" y="1051560"/>
            <a:ext cx="10872216" cy="109728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3" name="Нижний колонтитул"/>
          <p:cNvSpPr>
            <a:spLocks noGrp="1"/>
          </p:cNvSpPr>
          <p:nvPr>
            <p:ph type="ftr" sz="quarter" idx="11"/>
          </p:nvPr>
        </p:nvSpPr>
        <p:spPr>
          <a:xfrm>
            <a:off x="603504" y="6263640"/>
            <a:ext cx="45720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Нижний колонтитул</a:t>
            </a:r>
          </a:p>
        </p:txBody>
      </p:sp>
      <p:sp>
        <p:nvSpPr>
          <p:cNvPr id="4" name="Номер слайда"/>
          <p:cNvSpPr>
            <a:spLocks noGrp="1"/>
          </p:cNvSpPr>
          <p:nvPr>
            <p:ph type="sldNum" sz="quarter" idx="12"/>
          </p:nvPr>
        </p:nvSpPr>
        <p:spPr>
          <a:xfrm>
            <a:off x="10561320" y="6263640"/>
            <a:ext cx="9144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Спасибо за внима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 VITOME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420" y="387350"/>
            <a:ext cx="1638300" cy="320368"/>
          </a:xfrm>
          <a:prstGeom prst="rect">
            <a:avLst/>
          </a:prstGeom>
        </p:spPr>
      </p:pic>
      <p:cxnSp>
        <p:nvCxnSpPr>
          <p:cNvPr id="3" name="Линия под логотипом"/>
          <p:cNvCxnSpPr/>
          <p:nvPr/>
        </p:nvCxnSpPr>
        <p:spPr>
          <a:xfrm>
            <a:off x="1987550" y="876300"/>
            <a:ext cx="9488170" cy="0"/>
          </a:xfrm>
          <a:prstGeom prst="line">
            <a:avLst/>
          </a:prstGeom>
          <a:ln w="9525" cap="flat">
            <a:solidFill>
              <a:schemeClr val="accent2"/>
            </a:solidFill>
            <a:round/>
          </a:ln>
        </p:spPr>
      </p:cxnSp>
      <p:sp>
        <p:nvSpPr>
          <p:cNvPr id="4" name="Заголовок"/>
          <p:cNvSpPr>
            <a:spLocks noGrp="1"/>
          </p:cNvSpPr>
          <p:nvPr>
            <p:ph type="title"/>
          </p:nvPr>
        </p:nvSpPr>
        <p:spPr>
          <a:xfrm>
            <a:off x="603504" y="3520440"/>
            <a:ext cx="5943600" cy="118872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Спасибо за внимание!</a:t>
            </a:r>
          </a:p>
        </p:txBody>
      </p:sp>
      <p:sp>
        <p:nvSpPr>
          <p:cNvPr id="5" name="Контакты"/>
          <p:cNvSpPr>
            <a:spLocks noGrp="1"/>
          </p:cNvSpPr>
          <p:nvPr>
            <p:ph type="body" idx="1"/>
          </p:nvPr>
        </p:nvSpPr>
        <p:spPr>
          <a:xfrm>
            <a:off x="603504" y="4892040"/>
            <a:ext cx="5943600" cy="109728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info@vitomek.com</a:t>
            </a:r>
          </a:p>
          <a:p>
            <a:r>
              <a:rPr lang="ru-RU" dirty="0"/>
              <a:t>+7 495 902-03-32</a:t>
            </a: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 VITOMEK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37420" y="387350"/>
            <a:ext cx="1638300" cy="320368"/>
          </a:xfrm>
          <a:prstGeom prst="rect">
            <a:avLst/>
          </a:prstGeom>
        </p:spPr>
      </p:pic>
      <p:cxnSp>
        <p:nvCxnSpPr>
          <p:cNvPr id="3" name="Линия под логотипом"/>
          <p:cNvCxnSpPr/>
          <p:nvPr/>
        </p:nvCxnSpPr>
        <p:spPr>
          <a:xfrm>
            <a:off x="1987550" y="876300"/>
            <a:ext cx="9488170" cy="0"/>
          </a:xfrm>
          <a:prstGeom prst="line">
            <a:avLst/>
          </a:prstGeom>
          <a:ln w="9525" cap="flat">
            <a:solidFill>
              <a:schemeClr val="accent1"/>
            </a:solidFill>
            <a:round/>
          </a:ln>
        </p:spPr>
      </p:cxnSp>
      <p:sp>
        <p:nvSpPr>
          <p:cNvPr id="4" name="Заголовок"/>
          <p:cNvSpPr>
            <a:spLocks noGrp="1"/>
          </p:cNvSpPr>
          <p:nvPr>
            <p:ph type="title"/>
          </p:nvPr>
        </p:nvSpPr>
        <p:spPr>
          <a:xfrm>
            <a:off x="603504" y="1051560"/>
            <a:ext cx="10872216" cy="1097280"/>
          </a:xfrm>
          <a:prstGeom prst="rect">
            <a:avLst/>
          </a:prstGeom>
        </p:spPr>
        <p:txBody>
          <a:bodyPr wrap="square" lIns="0" rIns="0" rtlCol="0" anchor="b">
            <a:normAutofit/>
          </a:bodyPr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5" name="Текст"/>
          <p:cNvSpPr>
            <a:spLocks noGrp="1"/>
          </p:cNvSpPr>
          <p:nvPr>
            <p:ph type="body" idx="1"/>
          </p:nvPr>
        </p:nvSpPr>
        <p:spPr>
          <a:xfrm>
            <a:off x="603504" y="2331720"/>
            <a:ext cx="10872216" cy="3657600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/>
          <a:p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6" name="Нижний колонтитул"/>
          <p:cNvSpPr>
            <a:spLocks noGrp="1"/>
          </p:cNvSpPr>
          <p:nvPr>
            <p:ph type="ftr" sz="quarter" idx="11"/>
          </p:nvPr>
        </p:nvSpPr>
        <p:spPr>
          <a:xfrm>
            <a:off x="603504" y="6263640"/>
            <a:ext cx="45720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r>
              <a:rPr lang="ru-RU" dirty="0"/>
              <a:t>Нижний колонтитул</a:t>
            </a:r>
          </a:p>
        </p:txBody>
      </p:sp>
      <p:sp>
        <p:nvSpPr>
          <p:cNvPr id="7" name="Номер слайда"/>
          <p:cNvSpPr>
            <a:spLocks noGrp="1"/>
          </p:cNvSpPr>
          <p:nvPr>
            <p:ph type="sldNum" sz="quarter" idx="12"/>
          </p:nvPr>
        </p:nvSpPr>
        <p:spPr>
          <a:xfrm>
            <a:off x="10561320" y="6263640"/>
            <a:ext cx="914400" cy="320040"/>
          </a:xfrm>
          <a:prstGeom prst="rect">
            <a:avLst/>
          </a:prstGeom>
        </p:spPr>
        <p:txBody>
          <a:bodyPr wrap="square" lIns="0" rIns="0" rtlCol="0" anchor="ctr">
            <a:norm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spcBef>
                <a:spcPts val="0"/>
              </a:spcBef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marL="0" indent="0" algn="l" defTabSz="914400" rtl="0" eaLnBrk="1" latinLnBrk="0" hangingPunct="1">
        <a:spcBef>
          <a:spcPts val="0"/>
        </a:spcBef>
        <a:buNone/>
        <a:defRPr sz="3200" b="1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85750" indent="-285750" algn="l" defTabSz="914400" rtl="0" eaLnBrk="1" latinLnBrk="0" hangingPunct="1">
        <a:spcBef>
          <a:spcPts val="8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5750" algn="l" defTabSz="914400" rtl="0" eaLnBrk="1" latinLnBrk="0" hangingPunct="1">
        <a:spcBef>
          <a:spcPts val="400"/>
        </a:spcBef>
        <a:buClr>
          <a:schemeClr val="accent2"/>
        </a:buClr>
        <a:buSzPct val="100000"/>
        <a:buFont typeface="Arial" panose="020B0604020202020204" pitchFamily="34" charset="0"/>
        <a:buChar char="–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285750" algn="l" defTabSz="914400" rtl="0" eaLnBrk="1" latinLnBrk="0" hangingPunct="1">
        <a:spcBef>
          <a:spcPts val="4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85750" algn="l" defTabSz="914400" rtl="0" eaLnBrk="1" latinLnBrk="0" hangingPunct="1">
        <a:spcBef>
          <a:spcPts val="400"/>
        </a:spcBef>
        <a:buClr>
          <a:schemeClr val="accent2"/>
        </a:buClr>
        <a:buSzPct val="100000"/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428750" indent="-285750" algn="l" defTabSz="914400" rtl="0" eaLnBrk="1" latinLnBrk="0" hangingPunct="1">
        <a:spcBef>
          <a:spcPts val="4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indent="-285750" algn="l" defTabSz="914400" rtl="0" eaLnBrk="1" latinLnBrk="0" hangingPunct="1">
        <a:spcBef>
          <a:spcPts val="4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000250" indent="-285750" algn="l" defTabSz="914400" rtl="0" eaLnBrk="1" latinLnBrk="0" hangingPunct="1">
        <a:spcBef>
          <a:spcPts val="4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285750" algn="l" defTabSz="914400" rtl="0" eaLnBrk="1" latinLnBrk="0" hangingPunct="1">
        <a:spcBef>
          <a:spcPts val="4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indent="-285750" algn="l" defTabSz="914400" rtl="0" eaLnBrk="1" latinLnBrk="0" hangingPunct="1">
        <a:spcBef>
          <a:spcPts val="400"/>
        </a:spcBef>
        <a:buClr>
          <a:schemeClr val="accent2"/>
        </a:buClr>
        <a:buSzPct val="100000"/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indent="0" algn="l" defTabSz="914400" rtl="0" eaLnBrk="1" latinLnBrk="0" hangingPunct="1"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CALCIUM VIT: быстрый и пролонгированный кальций для коров</a:t>
            </a:r>
          </a:p>
        </p:txBody>
      </p:sp>
      <p:sp>
        <p:nvSpPr>
          <p:cNvPr id="3" name="Подзаголовок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Кормовая добавка для новотельных коров: механизм действия, схема применения, результаты</a:t>
            </a:r>
          </a:p>
        </p:txBody>
      </p:sp>
      <p:sp>
        <p:nvSpPr>
          <p:cNvPr id="4" name="Дата и автор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ru-RU" dirty="0"/>
              <a:t>Октябрь 2026 • Отдел технологического сопровождения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раздела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01</a:t>
            </a:r>
          </a:p>
        </p:txBody>
      </p:sp>
      <p:sp>
        <p:nvSpPr>
          <p:cNvPr id="3" name="Название раздела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Проблема: дефицит кальция в первые часы после отёла</a:t>
            </a:r>
          </a:p>
        </p:txBody>
      </p:sp>
      <p:sp>
        <p:nvSpPr>
          <p:cNvPr id="4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после отёла падает уровень кальция</a:t>
            </a:r>
          </a:p>
        </p:txBody>
      </p:sp>
      <p:sp>
        <p:nvSpPr>
          <p:cNvPr id="3" name="Текс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началом лактации потребность коровы в кальции возрастает в 2–3 раза за сутки</a:t>
            </a:r>
          </a:p>
          <a:p>
            <a:r>
              <a:rPr lang="ru-RU" dirty="0"/>
              <a:t>Организм не успевает мобилизовать резервы из костной ткани — уровень кальция в крови падает</a:t>
            </a:r>
          </a:p>
          <a:p>
            <a:r>
              <a:rPr lang="ru-RU" dirty="0"/>
              <a:t>Субклиническая гипокальциемия затрагивает до половины коров второй и старших лактаций</a:t>
            </a:r>
          </a:p>
          <a:p>
            <a:r>
              <a:rPr lang="ru-RU" dirty="0"/>
              <a:t>Снижается тонус рубца и матки, падает потребление корма в первые дни лактации</a:t>
            </a:r>
          </a:p>
          <a:p>
            <a:r>
              <a:rPr lang="ru-RU" dirty="0"/>
              <a:t>Последствия для хозяйства:</a:t>
            </a:r>
          </a:p>
          <a:p>
            <a:pPr lvl="1"/>
            <a:r>
              <a:rPr lang="ru-RU" dirty="0"/>
              <a:t>залёживание и послеродовой парез, задержание последа, кетоз, потеря до 10 % надоя за лактацию</a:t>
            </a:r>
          </a:p>
        </p:txBody>
      </p:sp>
      <p:sp>
        <p:nvSpPr>
          <p:cNvPr id="4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меняется при вводе CALCIUM VIT в схему отёла</a:t>
            </a:r>
          </a:p>
        </p:txBody>
      </p:sp>
      <p:sp>
        <p:nvSpPr>
          <p:cNvPr id="3" name="Подзаголовок колонки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Было</a:t>
            </a:r>
          </a:p>
        </p:txBody>
      </p:sp>
      <p:sp>
        <p:nvSpPr>
          <p:cNvPr id="4" name="Текст колонки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ru-RU" dirty="0"/>
              <a:t>Внутривенный кальций вводится по факту пареза — нужен ветврач, стресс для животного</a:t>
            </a:r>
          </a:p>
          <a:p>
            <a:r>
              <a:rPr lang="ru-RU" dirty="0"/>
              <a:t>Резкий скачок кальция в крови и такой же быстрый спад через 2–4 часа</a:t>
            </a:r>
          </a:p>
          <a:p>
            <a:r>
              <a:rPr lang="ru-RU" dirty="0"/>
              <a:t>Корова залёживается, теряет аппетит и до 10 % надоя за лактацию</a:t>
            </a:r>
          </a:p>
        </p:txBody>
      </p:sp>
      <p:sp>
        <p:nvSpPr>
          <p:cNvPr id="5" name="Подзаголовок колонки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ru-RU" dirty="0"/>
              <a:t>Стало</a:t>
            </a:r>
          </a:p>
        </p:txBody>
      </p:sp>
      <p:sp>
        <p:nvSpPr>
          <p:cNvPr id="6" name="Текст колонки 2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ru-RU" dirty="0"/>
              <a:t>Болюс вводит оператор за час до отёла или сразу после — без инъекций</a:t>
            </a:r>
          </a:p>
          <a:p>
            <a:r>
              <a:rPr lang="ru-RU" dirty="0"/>
              <a:t>Кальций поступает плавно в течение 10–12 часов, второй болюс закрепляет результат</a:t>
            </a:r>
          </a:p>
          <a:p>
            <a:r>
              <a:rPr lang="ru-RU" dirty="0"/>
              <a:t>Корова быстро встаёт, сохраняет аппетит и выходит на пик лактации</a:t>
            </a:r>
          </a:p>
        </p:txBody>
      </p:sp>
      <p:sp>
        <p:nvSpPr>
          <p:cNvPr id="7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 и форма выпуска</a:t>
            </a:r>
          </a:p>
        </p:txBody>
      </p:sp>
      <p:sp>
        <p:nvSpPr>
          <p:cNvPr id="4" name="Текст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 менее 50 г доступного кальция в одном болюсе</a:t>
            </a:r>
          </a:p>
          <a:p>
            <a:r>
              <a:rPr lang="ru-RU" dirty="0"/>
              <a:t>Жировая оболочка: болюс легко проходит глотку и пищевод, введение безопасно для животного</a:t>
            </a:r>
          </a:p>
          <a:p>
            <a:r>
              <a:rPr lang="ru-RU" dirty="0"/>
              <a:t>Быстро распадается в рубце и работает 10–12 часов</a:t>
            </a:r>
          </a:p>
          <a:p>
            <a:r>
              <a:rPr lang="ru-RU" dirty="0"/>
              <a:t>Упаковка: коробка 20 болюсов, хранение при комнатной температуре</a:t>
            </a:r>
          </a:p>
        </p:txBody>
      </p:sp>
      <p:pic>
        <p:nvPicPr>
          <p:cNvPr id="2" name="Рисунок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7000" r="2500"/>
          <a:stretch>
            <a:fillRect/>
          </a:stretch>
        </p:blipFill>
        <p:spPr/>
      </p:pic>
      <p:sp>
        <p:nvSpPr>
          <p:cNvPr id="5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применения: два болюса на отёл</a:t>
            </a:r>
          </a:p>
        </p:txBody>
      </p:sp>
      <p:sp>
        <p:nvSpPr>
          <p:cNvPr id="3" name="Подзаголовок карточки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болюс</a:t>
            </a:r>
          </a:p>
        </p:txBody>
      </p:sp>
      <p:sp>
        <p:nvSpPr>
          <p:cNvPr id="4" name="Текст карточки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ru-RU" dirty="0"/>
              <a:t>За час до отёла или сразу после него. Вводится перорально аппликатором, без фиксации животного.</a:t>
            </a:r>
          </a:p>
        </p:txBody>
      </p:sp>
      <p:sp>
        <p:nvSpPr>
          <p:cNvPr id="5" name="Подзаголовок карточки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ru-RU" dirty="0"/>
              <a:t>Второй болюс</a:t>
            </a:r>
          </a:p>
        </p:txBody>
      </p:sp>
      <p:sp>
        <p:nvSpPr>
          <p:cNvPr id="6" name="Текст карточки 2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ru-RU" dirty="0"/>
              <a:t>Через 10–12 часов после первого — закрепляет уровень кальция на период, когда риск пареза максимален.</a:t>
            </a:r>
          </a:p>
        </p:txBody>
      </p:sp>
      <p:sp>
        <p:nvSpPr>
          <p:cNvPr id="7" name="Подзаголовок карточки 3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rPr lang="ru-RU" dirty="0"/>
              <a:t>Контроль результата</a:t>
            </a:r>
          </a:p>
        </p:txBody>
      </p:sp>
      <p:sp>
        <p:nvSpPr>
          <p:cNvPr id="8" name="Текст карточки 3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rPr lang="ru-RU" dirty="0"/>
              <a:t>В первые сутки оцениваем подвижность, аппетит и жвачку; все случаи залёживания фиксируем в журнале.</a:t>
            </a:r>
          </a:p>
        </p:txBody>
      </p:sp>
      <p:sp>
        <p:nvSpPr>
          <p:cNvPr id="9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CALCIUM VIT в цифрах</a:t>
            </a:r>
          </a:p>
        </p:txBody>
      </p:sp>
      <p:sp>
        <p:nvSpPr>
          <p:cNvPr id="3" name="Цифра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50 г</a:t>
            </a:r>
          </a:p>
        </p:txBody>
      </p:sp>
      <p:sp>
        <p:nvSpPr>
          <p:cNvPr id="4" name="Подпись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ru-RU" dirty="0"/>
              <a:t>доступного кальция в одном болюсе</a:t>
            </a:r>
          </a:p>
        </p:txBody>
      </p:sp>
      <p:sp>
        <p:nvSpPr>
          <p:cNvPr id="5" name="Цифра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ru-RU" dirty="0"/>
              <a:t>10–12</a:t>
            </a:r>
          </a:p>
        </p:txBody>
      </p:sp>
      <p:sp>
        <p:nvSpPr>
          <p:cNvPr id="6" name="Подпись 2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ru-RU" dirty="0"/>
              <a:t>часов плавного поступления кальция после введения</a:t>
            </a:r>
          </a:p>
        </p:txBody>
      </p:sp>
      <p:sp>
        <p:nvSpPr>
          <p:cNvPr id="7" name="Цифра 3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rPr lang="ru-RU" dirty="0"/>
              <a:t>2</a:t>
            </a:r>
          </a:p>
        </p:txBody>
      </p:sp>
      <p:sp>
        <p:nvSpPr>
          <p:cNvPr id="8" name="Подпись 3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rPr lang="ru-RU" dirty="0"/>
              <a:t>болюса на корову за один отёл</a:t>
            </a:r>
          </a:p>
        </p:txBody>
      </p:sp>
      <p:sp>
        <p:nvSpPr>
          <p:cNvPr id="9" name="Цифра 4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rPr lang="ru-RU" dirty="0"/>
              <a:t>–37 %</a:t>
            </a:r>
          </a:p>
        </p:txBody>
      </p:sp>
      <p:sp>
        <p:nvSpPr>
          <p:cNvPr id="10" name="Подпись 4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rPr lang="ru-RU" dirty="0"/>
              <a:t>случаев послеродового пареза в хозяйствах-партнёрах, 2025 г.</a:t>
            </a:r>
          </a:p>
        </p:txBody>
      </p:sp>
      <p:sp>
        <p:nvSpPr>
          <p:cNvPr id="11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Цитата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перехода на CALCIUM VIT новотельные коровы встают быстрее, а случаев пареза за сезон стало заметно меньше — без единой инъекции.</a:t>
            </a:r>
          </a:p>
        </p:txBody>
      </p:sp>
      <p:sp>
        <p:nvSpPr>
          <p:cNvPr id="3" name="Автор цитаты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ru-RU" dirty="0"/>
              <a:t>— Главный зоотехник молочного комплекса на 1 200 голов, Самарская область</a:t>
            </a:r>
          </a:p>
        </p:txBody>
      </p:sp>
      <p:sp>
        <p:nvSpPr>
          <p:cNvPr id="4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источников кальция для новотельных коров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603504" y="2331720"/>
          <a:ext cx="10872216" cy="2286000"/>
        </p:xfrm>
        <a:graphic>
          <a:graphicData uri="http://schemas.openxmlformats.org/drawingml/2006/table">
            <a:tbl>
              <a:tblPr firstRow="1" bandRow="1">
                <a:tableStyleId>{7A3C2E10-5B61-4C7B-9F2A-1B2C3D4E5F60}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ru-RU" sz="1400" dirty="0"/>
                        <a:t>Источник кальция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Начало действия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Длительность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Кто вводит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Стресс для коровы</a:t>
                      </a:r>
                    </a:p>
                  </a:txBody>
                  <a:tcPr marT="68580" marB="6858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ru-RU" sz="1400" dirty="0"/>
                        <a:t>Болюс CALCIUM VIT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15–30 минут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10–12 часов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оператор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минимальный</a:t>
                      </a:r>
                    </a:p>
                  </a:txBody>
                  <a:tcPr marT="68580" marB="685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ru-RU" sz="1400" dirty="0"/>
                        <a:t>Внутривенная инъекция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сразу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2–4 часа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ветврач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высокий</a:t>
                      </a:r>
                    </a:p>
                  </a:txBody>
                  <a:tcPr marT="68580" marB="685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ru-RU" sz="1400" dirty="0"/>
                        <a:t>Пероральный гель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 минут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4–6 часов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оператор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средний</a:t>
                      </a:r>
                    </a:p>
                  </a:txBody>
                  <a:tcPr marT="68580" marB="685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ru-RU" sz="1400" dirty="0"/>
                        <a:t>Анионовые соли в сухостой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профилактика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весь период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зоотехник</a:t>
                      </a:r>
                    </a:p>
                  </a:txBody>
                  <a:tcPr marT="68580" marB="68580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нет</a:t>
                      </a:r>
                    </a:p>
                  </a:txBody>
                  <a:tcPr marT="68580" marB="6858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Контакты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info@vitomek.com</a:t>
            </a:r>
          </a:p>
          <a:p>
            <a:r>
              <a:rPr lang="ru-RU" dirty="0"/>
              <a:t>+7 495 902-03-32</a:t>
            </a:r>
          </a:p>
          <a:p>
            <a:r>
              <a:rPr lang="ru-RU" dirty="0"/>
              <a:t>vitomek.com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TOMEK">
  <a:themeElements>
    <a:clrScheme name="VITOMEK">
      <a:dk1>
        <a:srgbClr val="0C4C4C"/>
      </a:dk1>
      <a:lt1>
        <a:srgbClr val="F3EED0"/>
      </a:lt1>
      <a:dk2>
        <a:srgbClr val="000000"/>
      </a:dk2>
      <a:lt2>
        <a:srgbClr val="C5DA77"/>
      </a:lt2>
      <a:accent1>
        <a:srgbClr val="0C4C4C"/>
      </a:accent1>
      <a:accent2>
        <a:srgbClr val="AACD3A"/>
      </a:accent2>
      <a:accent3>
        <a:srgbClr val="C5DA77"/>
      </a:accent3>
      <a:accent4>
        <a:srgbClr val="4E7C7C"/>
      </a:accent4>
      <a:accent5>
        <a:srgbClr val="809A2C"/>
      </a:accent5>
      <a:accent6>
        <a:srgbClr val="9FB9B9"/>
      </a:accent6>
      <a:hlink>
        <a:srgbClr val="809A2C"/>
      </a:hlink>
      <a:folHlink>
        <a:srgbClr val="4E7C7C"/>
      </a:folHlink>
    </a:clrScheme>
    <a:fontScheme name="VITOMEK">
      <a:majorFont>
        <a:latin typeface="TT Norms Pro" panose="02000503030000020003"/>
        <a:ea typeface=""/>
        <a:cs typeface=""/>
      </a:majorFont>
      <a:minorFont>
        <a:latin typeface="TT Norms Pro" panose="02000503030000020003"/>
        <a:ea typeface=""/>
        <a:cs typeface=""/>
      </a:minorFont>
    </a:fontScheme>
    <a:fmtScheme name="VITOMEK">
      <a:fillStyleLst>
        <a:solidFill>
          <a:schemeClr val="phClr"/>
        </a:solidFill>
        <a:solidFill>
          <a:schemeClr val="phClr">
            <a:tint val="90000"/>
          </a:schemeClr>
        </a:solidFill>
        <a:solidFill>
          <a:schemeClr val="phClr">
            <a:shade val="9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Microsoft Macintosh PowerPoint</Application>
  <PresentationFormat>Широкоэкранный</PresentationFormat>
  <Paragraphs>82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TT Norms Pro</vt:lpstr>
      <vt:lpstr>VITOMEK</vt:lpstr>
      <vt:lpstr>CALCIUM VIT: быстрый и пролонгированный кальций для коров</vt:lpstr>
      <vt:lpstr>Проблема: дефицит кальция в первые часы после отёла</vt:lpstr>
      <vt:lpstr>Почему после отёла падает уровень кальция</vt:lpstr>
      <vt:lpstr>Что меняется при вводе CALCIUM VIT в схему отёла</vt:lpstr>
      <vt:lpstr>Состав и форма выпуска</vt:lpstr>
      <vt:lpstr>Схема применения: два болюса на отёл</vt:lpstr>
      <vt:lpstr>CALCIUM VIT в цифрах</vt:lpstr>
      <vt:lpstr>Презентация PowerPoint</vt:lpstr>
      <vt:lpstr>Сравнение источников кальция для новотельных коров</vt:lpstr>
      <vt:lpstr>Спасибо за внимание!</vt:lpstr>
    </vt:vector>
  </TitlesOfParts>
  <Company>ВитОМЭК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VITOMEK</dc:title>
  <dc:creator>ВитОМЭК</dc:creator>
  <cp:lastModifiedBy>Sergey Kruglov</cp:lastModifiedBy>
  <cp:revision>1</cp:revision>
  <dcterms:created xsi:type="dcterms:W3CDTF">2026-10-04T12:00:00Z</dcterms:created>
  <dcterms:modified xsi:type="dcterms:W3CDTF">2026-10-04T17:10:28Z</dcterms:modified>
</cp:coreProperties>
</file>